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CB2A6"/>
                </a:solidFill>
                <a:latin typeface="Arial"/>
              </a:defRPr>
            </a:pPr>
            <a:r>
              <a:t>MINI PROJECT ABSTRACT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Georgia"/>
              </a:defRPr>
            </a:pPr>
            <a:r>
              <a:t>DayTone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8CB2A6"/>
                </a:solidFill>
                <a:latin typeface="Arial"/>
              </a:defRPr>
            </a:pPr>
            <a:r>
              <a:t>AI-Powered Mental Wellness Tracker — NLP, ML &amp; Real-Time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65760"/>
            <a:ext cx="2286000" cy="1645920"/>
          </a:xfrm>
          <a:prstGeom prst="roundRect">
            <a:avLst/>
          </a:prstGeom>
          <a:solidFill>
            <a:srgbClr val="1C3B36"/>
          </a:solidFill>
          <a:ln>
            <a:solidFill>
              <a:srgbClr val="1C3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S A Sanush</a:t>
            </a:r>
          </a:p>
          <a:p>
            <a:pPr algn="ctr">
              <a:defRPr sz="1400">
                <a:solidFill>
                  <a:srgbClr val="8CB2A6"/>
                </a:solidFill>
                <a:latin typeface="Arial"/>
              </a:defRPr>
            </a:pPr>
            <a:r>
              <a:t>S3 MCA</a:t>
            </a:r>
          </a:p>
          <a:p>
            <a:pPr algn="ctr">
              <a:defRPr sz="1200">
                <a:solidFill>
                  <a:srgbClr val="8CB2A6"/>
                </a:solidFill>
                <a:latin typeface="Arial"/>
              </a:defRPr>
            </a:pPr>
            <a:r>
              <a:t>01/07/2026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84A3B2"/>
          </a:solidFill>
          <a:ln>
            <a:solidFill>
              <a:srgbClr val="84A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About the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DCDCDC"/>
                </a:solidFill>
                <a:latin typeface="Arial"/>
              </a:defRPr>
            </a:pPr>
            <a:r>
              <a:t>▪  Flask app with modular blueprints: auth, mood, admin</a:t>
            </a:r>
          </a:p>
          <a:p>
            <a:pPr>
              <a:spcAft>
                <a:spcPts val="800"/>
              </a:spcAft>
              <a:defRPr sz="1150">
                <a:solidFill>
                  <a:srgbClr val="DCDCDC"/>
                </a:solidFill>
                <a:latin typeface="Arial"/>
              </a:defRPr>
            </a:pPr>
            <a:r>
              <a:t>▪  Daily logs: mood, sleep, stress, activity, social interaction</a:t>
            </a:r>
          </a:p>
          <a:p>
            <a:pPr>
              <a:spcAft>
                <a:spcPts val="800"/>
              </a:spcAft>
              <a:defRPr sz="1150">
                <a:solidFill>
                  <a:srgbClr val="DCDCDC"/>
                </a:solidFill>
                <a:latin typeface="Arial"/>
              </a:defRPr>
            </a:pPr>
            <a:r>
              <a:t>▪  NLP sentiment scoring — VADER + optional BERT wrapper</a:t>
            </a:r>
          </a:p>
          <a:p>
            <a:pPr>
              <a:spcAft>
                <a:spcPts val="800"/>
              </a:spcAft>
              <a:defRPr sz="1150">
                <a:solidFill>
                  <a:srgbClr val="DCDCDC"/>
                </a:solidFill>
                <a:latin typeface="Arial"/>
              </a:defRPr>
            </a:pPr>
            <a:r>
              <a:t>▪  ML burnout prediction — Random Forest, ~99% test accuracy</a:t>
            </a:r>
          </a:p>
          <a:p>
            <a:pPr>
              <a:spcAft>
                <a:spcPts val="800"/>
              </a:spcAft>
              <a:defRPr sz="1150">
                <a:solidFill>
                  <a:srgbClr val="DCDCDC"/>
                </a:solidFill>
                <a:latin typeface="Arial"/>
              </a:defRPr>
            </a:pPr>
            <a:r>
              <a:t>▪  Dashboards: Chart.js, D3.js heatmap, Three.js 3D Mood Orb</a:t>
            </a:r>
          </a:p>
          <a:p>
            <a:pPr>
              <a:spcAft>
                <a:spcPts val="800"/>
              </a:spcAft>
              <a:defRPr sz="1150">
                <a:solidFill>
                  <a:srgbClr val="DCDCDC"/>
                </a:solidFill>
                <a:latin typeface="Arial"/>
              </a:defRPr>
            </a:pPr>
            <a:r>
              <a:t>▪  PDF reports, streamed CSV export, personal goal tracking</a:t>
            </a:r>
          </a:p>
        </p:txBody>
      </p:sp>
      <p:sp>
        <p:nvSpPr>
          <p:cNvPr id="9" name="Oval 8"/>
          <p:cNvSpPr/>
          <p:nvPr/>
        </p:nvSpPr>
        <p:spPr>
          <a:xfrm>
            <a:off x="4297680" y="2377440"/>
            <a:ext cx="457200" cy="457200"/>
          </a:xfrm>
          <a:prstGeom prst="ellipse">
            <a:avLst/>
          </a:prstGeom>
          <a:solidFill>
            <a:srgbClr val="609488"/>
          </a:solidFill>
          <a:ln>
            <a:solidFill>
              <a:srgbClr val="6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⚠️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3317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92608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DCDCDC"/>
                </a:solidFill>
                <a:latin typeface="Arial"/>
              </a:defRPr>
            </a:pPr>
            <a:r>
              <a:t>▪  No early-warning system exists for burnout risk</a:t>
            </a:r>
          </a:p>
          <a:p>
            <a:pPr>
              <a:spcAft>
                <a:spcPts val="800"/>
              </a:spcAft>
              <a:defRPr sz="1150">
                <a:solidFill>
                  <a:srgbClr val="DCDCDC"/>
                </a:solidFill>
                <a:latin typeface="Arial"/>
              </a:defRPr>
            </a:pPr>
            <a:r>
              <a:t>▪  Manual journaling gives no analytical insight</a:t>
            </a:r>
          </a:p>
          <a:p>
            <a:pPr>
              <a:spcAft>
                <a:spcPts val="800"/>
              </a:spcAft>
              <a:defRPr sz="1150">
                <a:solidFill>
                  <a:srgbClr val="DCDCDC"/>
                </a:solidFill>
                <a:latin typeface="Arial"/>
              </a:defRPr>
            </a:pPr>
            <a:r>
              <a:t>▪  Mood, sleep &amp; stress patterns go unnoticed over time</a:t>
            </a:r>
          </a:p>
          <a:p>
            <a:pPr>
              <a:spcAft>
                <a:spcPts val="800"/>
              </a:spcAft>
              <a:defRPr sz="1150">
                <a:solidFill>
                  <a:srgbClr val="DCDCDC"/>
                </a:solidFill>
                <a:latin typeface="Arial"/>
              </a:defRPr>
            </a:pPr>
            <a:r>
              <a:t>▪  Wellness tools are fragmented across separate apps</a:t>
            </a:r>
          </a:p>
          <a:p>
            <a:pPr>
              <a:spcAft>
                <a:spcPts val="800"/>
              </a:spcAft>
              <a:defRPr sz="1150">
                <a:solidFill>
                  <a:srgbClr val="DCDCDC"/>
                </a:solidFill>
                <a:latin typeface="Arial"/>
              </a:defRPr>
            </a:pPr>
            <a:r>
              <a:t>▪  Little to no personalized, data-driven self-care guidance</a:t>
            </a:r>
          </a:p>
          <a:p>
            <a:pPr>
              <a:spcAft>
                <a:spcPts val="800"/>
              </a:spcAft>
              <a:defRPr sz="1150">
                <a:solidFill>
                  <a:srgbClr val="DCDCDC"/>
                </a:solidFill>
                <a:latin typeface="Arial"/>
              </a:defRPr>
            </a:pPr>
            <a:r>
              <a:t>▪  Risk labels alone offer no explanation or support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0" y="2377440"/>
            <a:ext cx="457200" cy="457200"/>
          </a:xfrm>
          <a:prstGeom prst="ellipse">
            <a:avLst/>
          </a:prstGeom>
          <a:solidFill>
            <a:srgbClr val="D5AB7B"/>
          </a:solidFill>
          <a:ln>
            <a:solidFill>
              <a:srgbClr val="D5A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3317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Core Modules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92608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DCDCDC"/>
                </a:solidFill>
                <a:latin typeface="Arial"/>
              </a:defRPr>
            </a:pPr>
            <a:r>
              <a:t>▪  Auth — scrypt hashing, admin code, rate-limited login</a:t>
            </a:r>
          </a:p>
          <a:p>
            <a:pPr>
              <a:spcAft>
                <a:spcPts val="800"/>
              </a:spcAft>
              <a:defRPr sz="1150">
                <a:solidFill>
                  <a:srgbClr val="DCDCDC"/>
                </a:solidFill>
                <a:latin typeface="Arial"/>
              </a:defRPr>
            </a:pPr>
            <a:r>
              <a:t>▪  Mood engine — 12-feature rolling analytics per log</a:t>
            </a:r>
          </a:p>
          <a:p>
            <a:pPr>
              <a:spcAft>
                <a:spcPts val="800"/>
              </a:spcAft>
              <a:defRPr sz="1150">
                <a:solidFill>
                  <a:srgbClr val="DCDCDC"/>
                </a:solidFill>
                <a:latin typeface="Arial"/>
              </a:defRPr>
            </a:pPr>
            <a:r>
              <a:t>▪  ML pipeline — RF vs Decision Tree vs Logistic Regression</a:t>
            </a:r>
          </a:p>
          <a:p>
            <a:pPr>
              <a:spcAft>
                <a:spcPts val="800"/>
              </a:spcAft>
              <a:defRPr sz="1150">
                <a:solidFill>
                  <a:srgbClr val="DCDCDC"/>
                </a:solidFill>
                <a:latin typeface="Arial"/>
              </a:defRPr>
            </a:pPr>
            <a:r>
              <a:t>▪  NLP module — VADER sentiment, BERT fallback option</a:t>
            </a:r>
          </a:p>
          <a:p>
            <a:pPr>
              <a:spcAft>
                <a:spcPts val="800"/>
              </a:spcAft>
              <a:defRPr sz="1150">
                <a:solidFill>
                  <a:srgbClr val="DCDCDC"/>
                </a:solidFill>
                <a:latin typeface="Arial"/>
              </a:defRPr>
            </a:pPr>
            <a:r>
              <a:t>▪  Suggestion engine — rule-based daily 'Do' / 'Don't' tips</a:t>
            </a:r>
          </a:p>
          <a:p>
            <a:pPr>
              <a:spcAft>
                <a:spcPts val="800"/>
              </a:spcAft>
              <a:defRPr sz="1150">
                <a:solidFill>
                  <a:srgbClr val="DCDCDC"/>
                </a:solidFill>
                <a:latin typeface="Arial"/>
              </a:defRPr>
            </a:pPr>
            <a:r>
              <a:t>▪  Admin module — platform stats &amp; cohort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CB2A6"/>
                </a:solidFill>
              </a:defRPr>
            </a:pPr>
            <a:r>
              <a:t>DayTone  |  Mini Project Abstract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CB2A6"/>
                </a:solidFill>
              </a:defRPr>
            </a:pPr>
            <a:r>
              <a:t>01 /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27"/>
                </a:solidFill>
                <a:latin typeface="Georgia"/>
              </a:defRPr>
            </a:pPr>
            <a:r>
              <a:t>Existing System, Security &amp;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09488"/>
                </a:solidFill>
                <a:latin typeface="Arial"/>
              </a:defRPr>
            </a:pPr>
            <a:r>
              <a:t>DayTone  |  Mini Project Abstract Presentation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84A3B2"/>
          </a:solidFill>
          <a:ln>
            <a:solidFill>
              <a:srgbClr val="84A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745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A27"/>
                </a:solidFill>
                <a:latin typeface="Georgia"/>
              </a:defRPr>
            </a:pPr>
            <a:r>
              <a:t>Existing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3C3C3C"/>
                </a:solidFill>
                <a:latin typeface="Arial"/>
              </a:defRPr>
            </a:pPr>
            <a:r>
              <a:t>▪  Plain journaling / diary apps with no analysis</a:t>
            </a:r>
          </a:p>
          <a:p>
            <a:pPr>
              <a:spcAft>
                <a:spcPts val="800"/>
              </a:spcAft>
              <a:defRPr sz="1150">
                <a:solidFill>
                  <a:srgbClr val="3C3C3C"/>
                </a:solidFill>
                <a:latin typeface="Arial"/>
              </a:defRPr>
            </a:pPr>
            <a:r>
              <a:t>▪  Generic mood trackers — manual entry only</a:t>
            </a:r>
          </a:p>
          <a:p>
            <a:pPr>
              <a:spcAft>
                <a:spcPts val="800"/>
              </a:spcAft>
              <a:defRPr sz="1150">
                <a:solidFill>
                  <a:srgbClr val="3C3C3C"/>
                </a:solidFill>
                <a:latin typeface="Arial"/>
              </a:defRPr>
            </a:pPr>
            <a:r>
              <a:t>▪  No predictive burnout-risk classification</a:t>
            </a:r>
          </a:p>
          <a:p>
            <a:pPr>
              <a:spcAft>
                <a:spcPts val="800"/>
              </a:spcAft>
              <a:defRPr sz="1150">
                <a:solidFill>
                  <a:srgbClr val="3C3C3C"/>
                </a:solidFill>
                <a:latin typeface="Arial"/>
              </a:defRPr>
            </a:pPr>
            <a:r>
              <a:t>▪  No NLP-based sentiment evaluation of notes</a:t>
            </a:r>
          </a:p>
          <a:p>
            <a:pPr>
              <a:spcAft>
                <a:spcPts val="800"/>
              </a:spcAft>
              <a:defRPr sz="1150">
                <a:solidFill>
                  <a:srgbClr val="3C3C3C"/>
                </a:solidFill>
                <a:latin typeface="Arial"/>
              </a:defRPr>
            </a:pPr>
            <a:r>
              <a:t>▪  Disconnected tools across sleep, stress &amp; mood</a:t>
            </a:r>
          </a:p>
          <a:p>
            <a:pPr>
              <a:spcAft>
                <a:spcPts val="800"/>
              </a:spcAft>
              <a:defRPr sz="1150">
                <a:solidFill>
                  <a:srgbClr val="3C3C3C"/>
                </a:solidFill>
                <a:latin typeface="Arial"/>
              </a:defRPr>
            </a:pPr>
            <a:r>
              <a:t>▪  Limited or no personalized recommendations</a:t>
            </a:r>
          </a:p>
        </p:txBody>
      </p:sp>
      <p:sp>
        <p:nvSpPr>
          <p:cNvPr id="7" name="Oval 6"/>
          <p:cNvSpPr/>
          <p:nvPr/>
        </p:nvSpPr>
        <p:spPr>
          <a:xfrm>
            <a:off x="4297680" y="1920240"/>
            <a:ext cx="457200" cy="457200"/>
          </a:xfrm>
          <a:prstGeom prst="ellipse">
            <a:avLst/>
          </a:prstGeom>
          <a:solidFill>
            <a:srgbClr val="609488"/>
          </a:solidFill>
          <a:ln>
            <a:solidFill>
              <a:srgbClr val="6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🛡️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8745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A27"/>
                </a:solidFill>
                <a:latin typeface="Georgia"/>
              </a:defRPr>
            </a:pPr>
            <a:r>
              <a:t>Roles &amp;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46888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3C3C3C"/>
                </a:solidFill>
                <a:latin typeface="Arial"/>
              </a:defRPr>
            </a:pPr>
            <a:r>
              <a:t>▪  Two roles: Regular User and Administrator</a:t>
            </a:r>
          </a:p>
          <a:p>
            <a:pPr>
              <a:spcAft>
                <a:spcPts val="800"/>
              </a:spcAft>
              <a:defRPr sz="1150">
                <a:solidFill>
                  <a:srgbClr val="3C3C3C"/>
                </a:solidFill>
                <a:latin typeface="Arial"/>
              </a:defRPr>
            </a:pPr>
            <a:r>
              <a:t>▪  CSRF protection (Flask-WTF) &amp; scrypt password hashing</a:t>
            </a:r>
          </a:p>
          <a:p>
            <a:pPr>
              <a:spcAft>
                <a:spcPts val="800"/>
              </a:spcAft>
              <a:defRPr sz="1150">
                <a:solidFill>
                  <a:srgbClr val="3C3C3C"/>
                </a:solidFill>
                <a:latin typeface="Arial"/>
              </a:defRPr>
            </a:pPr>
            <a:r>
              <a:t>▪  CSP headers (Flask-Talisman) + login rate limiting</a:t>
            </a:r>
          </a:p>
          <a:p>
            <a:pPr>
              <a:spcAft>
                <a:spcPts val="800"/>
              </a:spcAft>
              <a:defRPr sz="1150">
                <a:solidFill>
                  <a:srgbClr val="3C3C3C"/>
                </a:solidFill>
                <a:latin typeface="Arial"/>
              </a:defRPr>
            </a:pPr>
            <a:r>
              <a:t>▪  Session hardening: HttpOnly, SameSite=Lax, 8-hr lifetime</a:t>
            </a:r>
          </a:p>
          <a:p>
            <a:pPr>
              <a:spcAft>
                <a:spcPts val="800"/>
              </a:spcAft>
              <a:defRPr sz="1150">
                <a:solidFill>
                  <a:srgbClr val="3C3C3C"/>
                </a:solidFill>
                <a:latin typeface="Arial"/>
              </a:defRPr>
            </a:pPr>
            <a:r>
              <a:t>▪  Safe-redirect validation, 2 MB request size cap</a:t>
            </a:r>
          </a:p>
          <a:p>
            <a:pPr>
              <a:spcAft>
                <a:spcPts val="800"/>
              </a:spcAft>
              <a:defRPr sz="1150">
                <a:solidFill>
                  <a:srgbClr val="3C3C3C"/>
                </a:solidFill>
                <a:latin typeface="Arial"/>
              </a:defRPr>
            </a:pPr>
            <a:r>
              <a:t>▪  Production blocks SQLite — requires PostgreSQL</a:t>
            </a:r>
          </a:p>
        </p:txBody>
      </p:sp>
      <p:sp>
        <p:nvSpPr>
          <p:cNvPr id="10" name="Oval 9"/>
          <p:cNvSpPr/>
          <p:nvPr/>
        </p:nvSpPr>
        <p:spPr>
          <a:xfrm>
            <a:off x="8046720" y="1920240"/>
            <a:ext cx="457200" cy="457200"/>
          </a:xfrm>
          <a:prstGeom prst="ellipse">
            <a:avLst/>
          </a:prstGeom>
          <a:solidFill>
            <a:srgbClr val="D5AB7B"/>
          </a:solidFill>
          <a:ln>
            <a:solidFill>
              <a:srgbClr val="D5A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8745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A27"/>
                </a:solidFill>
                <a:latin typeface="Georgia"/>
              </a:defRPr>
            </a:pPr>
            <a:r>
              <a:t>Technology Used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468880"/>
            <a:ext cx="3474720" cy="658368"/>
          </a:xfrm>
          <a:prstGeom prst="roundRect">
            <a:avLst/>
          </a:prstGeom>
          <a:solidFill>
            <a:srgbClr val="EBF0EE"/>
          </a:solidFill>
          <a:ln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1">
                <a:solidFill>
                  <a:srgbClr val="1B2A27"/>
                </a:solidFill>
                <a:latin typeface="Arial"/>
              </a:defRPr>
            </a:pPr>
            <a:r>
              <a:t>Backend</a:t>
            </a:r>
          </a:p>
          <a:p>
            <a:pPr>
              <a:defRPr sz="1000">
                <a:solidFill>
                  <a:srgbClr val="505050"/>
                </a:solidFill>
                <a:latin typeface="Arial"/>
              </a:defRPr>
            </a:pPr>
            <a:r>
              <a:t>Flask, SQLAlchemy, Alembic migrations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236976"/>
            <a:ext cx="3474720" cy="658368"/>
          </a:xfrm>
          <a:prstGeom prst="roundRect">
            <a:avLst/>
          </a:prstGeom>
          <a:solidFill>
            <a:srgbClr val="EBF0EE"/>
          </a:solidFill>
          <a:ln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1">
                <a:solidFill>
                  <a:srgbClr val="1B2A27"/>
                </a:solidFill>
                <a:latin typeface="Arial"/>
              </a:defRPr>
            </a:pPr>
            <a:r>
              <a:t>ML / NLP</a:t>
            </a:r>
          </a:p>
          <a:p>
            <a:pPr>
              <a:defRPr sz="1000">
                <a:solidFill>
                  <a:srgbClr val="505050"/>
                </a:solidFill>
                <a:latin typeface="Arial"/>
              </a:defRPr>
            </a:pPr>
            <a:r>
              <a:t>Scikit-Learn (RF/DT/LogReg), NLTK VADER, BERT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005072"/>
            <a:ext cx="3474720" cy="658368"/>
          </a:xfrm>
          <a:prstGeom prst="roundRect">
            <a:avLst/>
          </a:prstGeom>
          <a:solidFill>
            <a:srgbClr val="EBF0EE"/>
          </a:solidFill>
          <a:ln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1">
                <a:solidFill>
                  <a:srgbClr val="1B2A27"/>
                </a:solidFill>
                <a:latin typeface="Arial"/>
              </a:defRPr>
            </a:pPr>
            <a:r>
              <a:t>Visualization</a:t>
            </a:r>
          </a:p>
          <a:p>
            <a:pPr>
              <a:defRPr sz="1000">
                <a:solidFill>
                  <a:srgbClr val="505050"/>
                </a:solidFill>
                <a:latin typeface="Arial"/>
              </a:defRPr>
            </a:pPr>
            <a:r>
              <a:t>Chart.js, D3.js, Three.js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773168"/>
            <a:ext cx="3474720" cy="658368"/>
          </a:xfrm>
          <a:prstGeom prst="roundRect">
            <a:avLst/>
          </a:prstGeom>
          <a:solidFill>
            <a:srgbClr val="EBF0EE"/>
          </a:solidFill>
          <a:ln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1">
                <a:solidFill>
                  <a:srgbClr val="1B2A27"/>
                </a:solidFill>
                <a:latin typeface="Arial"/>
              </a:defRPr>
            </a:pPr>
            <a:r>
              <a:t>Security</a:t>
            </a:r>
          </a:p>
          <a:p>
            <a:pPr>
              <a:defRPr sz="1000">
                <a:solidFill>
                  <a:srgbClr val="505050"/>
                </a:solidFill>
                <a:latin typeface="Arial"/>
              </a:defRPr>
            </a:pPr>
            <a:r>
              <a:t>Flask-Talisman, Flask-Limiter, Fernet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5541264"/>
            <a:ext cx="3474720" cy="658368"/>
          </a:xfrm>
          <a:prstGeom prst="roundRect">
            <a:avLst/>
          </a:prstGeom>
          <a:solidFill>
            <a:srgbClr val="EBF0EE"/>
          </a:solidFill>
          <a:ln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1">
                <a:solidFill>
                  <a:srgbClr val="1B2A27"/>
                </a:solidFill>
                <a:latin typeface="Arial"/>
              </a:defRPr>
            </a:pPr>
            <a:r>
              <a:t>DevOps</a:t>
            </a:r>
          </a:p>
          <a:p>
            <a:pPr>
              <a:defRPr sz="1000">
                <a:solidFill>
                  <a:srgbClr val="505050"/>
                </a:solidFill>
                <a:latin typeface="Arial"/>
              </a:defRPr>
            </a:pPr>
            <a:r>
              <a:t>Gunicorn, GitHub Actions CI, pytest (25 tests)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9488"/>
                </a:solidFill>
              </a:defRPr>
            </a:pPr>
            <a:r>
              <a:t>DayTone  |  Mini Project Abstract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9488"/>
                </a:solidFill>
              </a:defRPr>
            </a:pPr>
            <a:r>
              <a:t>02 / 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